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FB2591C-B849-4433-8965-D2A9CF79E419}">
  <a:tblStyle styleId="{0FB2591C-B849-4433-8965-D2A9CF79E41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24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6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png"/><Relationship Id="rId4" Type="http://schemas.openxmlformats.org/officeDocument/2006/relationships/image" Target="../media/image16.png"/><Relationship Id="rId5" Type="http://schemas.openxmlformats.org/officeDocument/2006/relationships/image" Target="../media/image24.png"/><Relationship Id="rId6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Relationship Id="rId5" Type="http://schemas.openxmlformats.org/officeDocument/2006/relationships/image" Target="../media/image27.png"/><Relationship Id="rId6" Type="http://schemas.openxmlformats.org/officeDocument/2006/relationships/hyperlink" Target="http://github.com/GiantMazelliWasHere/orbital-solar-insight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D2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3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9235440" y="-731520"/>
            <a:ext cx="41148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73C"/>
                </a:solidFill>
                <a:latin typeface="Calibri"/>
                <a:ea typeface="Calibri"/>
                <a:cs typeface="Calibri"/>
                <a:sym typeface="Calibri"/>
              </a:rPr>
              <a:t>FIAP · GLOBAL SOLUTION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640080" y="137160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6400"/>
              <a:buFont typeface="Georgia"/>
              <a:buNone/>
            </a:pPr>
            <a:r>
              <a:rPr b="1" i="0" lang="en-US" sz="6400" u="none" cap="none" strike="noStrike">
                <a:solidFill>
                  <a:srgbClr val="F4F1E8"/>
                </a:solidFill>
                <a:latin typeface="Georgia"/>
                <a:ea typeface="Georgia"/>
                <a:cs typeface="Georgia"/>
                <a:sym typeface="Georgia"/>
              </a:rPr>
              <a:t>Orbital Solar Insight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640080" y="29260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IA e Machine Learning aplicados a dados de observação da Terra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40080" y="3749040"/>
            <a:ext cx="164592" cy="164592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14400" y="365760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Energia solar urbana · Perfis climáticos regionais · Fonte: NASA POWER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640080" y="4937760"/>
            <a:ext cx="3108960" cy="1005840"/>
          </a:xfrm>
          <a:prstGeom prst="rect">
            <a:avLst/>
          </a:prstGeom>
          <a:solidFill>
            <a:srgbClr val="5C8A4E">
              <a:alpha val="40000"/>
            </a:srgbClr>
          </a:solidFill>
          <a:ln cap="flat" cmpd="sng" w="12700">
            <a:solidFill>
              <a:srgbClr val="F4B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22960" y="5074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ODS 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82296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Indústria &amp; Inovação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3977640" y="4937760"/>
            <a:ext cx="3108960" cy="1005840"/>
          </a:xfrm>
          <a:prstGeom prst="rect">
            <a:avLst/>
          </a:prstGeom>
          <a:solidFill>
            <a:srgbClr val="5C8A4E">
              <a:alpha val="40000"/>
            </a:srgbClr>
          </a:solidFill>
          <a:ln cap="flat" cmpd="sng" w="12700">
            <a:solidFill>
              <a:srgbClr val="F4B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4160520" y="5074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ODS 11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416052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Cidades Sustentáveis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7315200" y="4937760"/>
            <a:ext cx="3108960" cy="1005840"/>
          </a:xfrm>
          <a:prstGeom prst="rect">
            <a:avLst/>
          </a:prstGeom>
          <a:solidFill>
            <a:srgbClr val="5C8A4E">
              <a:alpha val="40000"/>
            </a:srgbClr>
          </a:solidFill>
          <a:ln cap="flat" cmpd="sng" w="12700">
            <a:solidFill>
              <a:srgbClr val="F4B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498080" y="50749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ODS 13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7498080" y="5440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Ação Climática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Equipe FIAP  · 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01 · CONTEXTO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O problema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548640" y="1645920"/>
            <a:ext cx="4754880" cy="4206240"/>
          </a:xfrm>
          <a:prstGeom prst="rect">
            <a:avLst/>
          </a:prstGeom>
          <a:solidFill>
            <a:srgbClr val="1F4D2E"/>
          </a:solidFill>
          <a:ln>
            <a:noFill/>
          </a:ln>
          <a:effectLst>
            <a:outerShdw blurRad="101600" rotWithShape="0" algn="bl" dir="5400000" dist="254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9202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868680" y="25146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Brasil heterogêneo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868680" y="3017520"/>
            <a:ext cx="4114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1000"/>
              <a:buFont typeface="Georgia"/>
              <a:buNone/>
            </a:pPr>
            <a:r>
              <a:rPr b="1" i="0" lang="en-US" sz="110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868680" y="4389120"/>
            <a:ext cx="4114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regiões e biomas com climas radicalmente diferentes — da Amazônia úmida ao Nordeste seco e Sul temperado.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577840" y="1645920"/>
            <a:ext cx="60350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5577840" y="1645920"/>
            <a:ext cx="73152" cy="132588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" name="Google Shape;4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97880" y="192024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4"/>
          <p:cNvSpPr/>
          <p:nvPr/>
        </p:nvSpPr>
        <p:spPr>
          <a:xfrm>
            <a:off x="6537960" y="1847088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Planejamento exige dados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6537960" y="2240280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Energia e adaptação climática urbana dependem de séries confiáveis e espacialmente distribuídas.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577840" y="3035808"/>
            <a:ext cx="60350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5577840" y="3035808"/>
            <a:ext cx="73152" cy="132588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2" name="Google Shape;5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97880" y="331012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6537960" y="3236976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Vazios na rede de superfície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537960" y="3630168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INMET concentra estações no Sul/Sudeste; Norte e Centro-Oeste ficam mal cobertos.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5577840" y="4425696"/>
            <a:ext cx="6035040" cy="13258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5577840" y="4425696"/>
            <a:ext cx="73152" cy="132588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97880" y="4700016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4"/>
          <p:cNvSpPr/>
          <p:nvPr/>
        </p:nvSpPr>
        <p:spPr>
          <a:xfrm>
            <a:off x="6537960" y="4626864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Satélite resolve o vazio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6537960" y="5020056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Cobertura global e uniforme — preenche regiões sem instrumentação adequada.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02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02 · OBJETIVOS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Perguntas de pesquisa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5"/>
          <p:cNvSpPr/>
          <p:nvPr/>
        </p:nvSpPr>
        <p:spPr>
          <a:xfrm>
            <a:off x="548640" y="1737360"/>
            <a:ext cx="534924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5"/>
          <p:cNvSpPr/>
          <p:nvPr/>
        </p:nvSpPr>
        <p:spPr>
          <a:xfrm>
            <a:off x="548640" y="1737360"/>
            <a:ext cx="5349240" cy="457200"/>
          </a:xfrm>
          <a:prstGeom prst="rect">
            <a:avLst/>
          </a:prstGeom>
          <a:solidFill>
            <a:srgbClr val="5C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777240" y="1810512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Q1 · SUPERVISIONADO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3" name="Google Shape;7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5146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/>
          <p:nvPr/>
        </p:nvSpPr>
        <p:spPr>
          <a:xfrm>
            <a:off x="777240" y="32004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Previsão de irradiância solar diária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777240" y="4023360"/>
            <a:ext cx="4892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Estimar a irradiância nas capitais brasileiras com erro suficiente para dimensionar sistemas fotovoltaicos.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263640" y="1737360"/>
            <a:ext cx="5349240" cy="39319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6263640" y="1737360"/>
            <a:ext cx="5349240" cy="4572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492240" y="1810512"/>
            <a:ext cx="4892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Q4 · NÃO-SUPERVISIONADO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251460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/>
          <p:nvPr/>
        </p:nvSpPr>
        <p:spPr>
          <a:xfrm>
            <a:off x="6492240" y="320040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Agrupamento por perfil climático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6492240" y="4023360"/>
            <a:ext cx="48920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Agrupar capitais por perfil climático para apoiar políticas públicas regionalizadas.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solidFill>
            <a:srgbClr val="F4B73C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777240" y="5870448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Por que as duas juntas?  </a:t>
            </a:r>
            <a:r>
              <a:rPr b="0" i="0" lang="en-US" sz="14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Q1 sustenta decisões locais. Q4 sustenta decisões estruturais.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03 ·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Dataset NASA POWER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548640" y="1737360"/>
            <a:ext cx="256032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731520" y="1965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10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31520" y="2880360"/>
            <a:ext cx="36576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73152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variáveis diárias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31520" y="3291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irradiância, T, RH, vento, chuva, pressão, Kt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3383280" y="1737360"/>
            <a:ext cx="256032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3566160" y="1965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566160" y="2880360"/>
            <a:ext cx="36576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56616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capitais brasileiras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566160" y="3291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5 regiões · 5 biomas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217920" y="1737360"/>
            <a:ext cx="256032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400800" y="1965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4200"/>
              <a:buFont typeface="Georgia"/>
              <a:buNone/>
            </a:pPr>
            <a:r>
              <a:rPr b="1" i="0" lang="en-US" sz="42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43.836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0" y="2880360"/>
            <a:ext cx="36576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"/>
          <p:cNvSpPr/>
          <p:nvPr/>
        </p:nvSpPr>
        <p:spPr>
          <a:xfrm>
            <a:off x="640080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registros diários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6400800" y="3291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janela 2015 –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9052560" y="1737360"/>
            <a:ext cx="2560320" cy="2103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6"/>
          <p:cNvSpPr/>
          <p:nvPr/>
        </p:nvSpPr>
        <p:spPr>
          <a:xfrm>
            <a:off x="9235440" y="1965960"/>
            <a:ext cx="2194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6000"/>
              <a:buFont typeface="Georgia"/>
              <a:buNone/>
            </a:pPr>
            <a:r>
              <a:rPr b="1" i="0" lang="en-US" sz="6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235440" y="2880360"/>
            <a:ext cx="36576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"/>
          <p:cNvSpPr/>
          <p:nvPr/>
        </p:nvSpPr>
        <p:spPr>
          <a:xfrm>
            <a:off x="9235440" y="29718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valores faltantes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9235440" y="329184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produto maduro pós-2015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548640" y="4160520"/>
            <a:ext cx="11064240" cy="210312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5" name="Google Shape;11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44348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1554480" y="4434840"/>
            <a:ext cx="9144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API pública  ·  sem chave  ·  cobertura global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554480" y="48463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4B73C"/>
                </a:solidFill>
                <a:latin typeface="Consolas"/>
                <a:ea typeface="Consolas"/>
                <a:cs typeface="Consolas"/>
                <a:sym typeface="Consolas"/>
              </a:rPr>
              <a:t>power.larc.nasa.gov/api/temporal/daily/point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868680" y="5349240"/>
            <a:ext cx="10424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Dados de satélite reanalisados — uniformes em todo o território nacional, sem os vazios típicos das redes de superfície. As 12 capitais escolhidas cobrem todos os biomas brasileiros, garantindo representatividade climática.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04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04 · ARQUITETURA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Pipeline de processamento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548640" y="1691640"/>
            <a:ext cx="5349240" cy="135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20640" y="2011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1600200" y="198424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data_acquisition.py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822960" y="2743200"/>
            <a:ext cx="4800600" cy="1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API NASA POWER → CSVs por cidade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263640" y="1691640"/>
            <a:ext cx="5349240" cy="135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537960" y="1965960"/>
            <a:ext cx="640080" cy="64008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537960" y="196596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8" name="Google Shape;13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35640" y="201168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7315200" y="198424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data_preprocessing.py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6537960" y="2743200"/>
            <a:ext cx="4800600" cy="1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Limpeza + lags + médias móveis + ciclos sin/cos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548640" y="3276600"/>
            <a:ext cx="5349240" cy="135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22960" y="3550920"/>
            <a:ext cx="640080" cy="64008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22960" y="3550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4" name="Google Shape;14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20640" y="3596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1600200" y="356920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eda.py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822960" y="4328160"/>
            <a:ext cx="4800600" cy="1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6 visualizações: distribuição, sazonalidade, correlação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6263640" y="3276600"/>
            <a:ext cx="5349240" cy="135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6537960" y="3550920"/>
            <a:ext cx="640080" cy="64008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6537960" y="35509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0" name="Google Shape;150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35640" y="35966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7315200" y="356920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modeling.py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6537960" y="4328160"/>
            <a:ext cx="4800600" cy="1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Linear / RF / XGBoost  ·  TimeSeriesSplit(5)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48640" y="4861560"/>
            <a:ext cx="5349240" cy="135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"/>
          <p:cNvSpPr/>
          <p:nvPr/>
        </p:nvSpPr>
        <p:spPr>
          <a:xfrm>
            <a:off x="822960" y="5135880"/>
            <a:ext cx="640080" cy="64008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822960" y="5135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6" name="Google Shape;156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120640" y="5181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/>
          <p:nvPr/>
        </p:nvSpPr>
        <p:spPr>
          <a:xfrm>
            <a:off x="1600200" y="515416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clustering.py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822960" y="5913120"/>
            <a:ext cx="4800600" cy="1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KMeans + PCA + análise de silhueta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6263640" y="4861560"/>
            <a:ext cx="5349240" cy="13563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"/>
          <p:cNvSpPr/>
          <p:nvPr/>
        </p:nvSpPr>
        <p:spPr>
          <a:xfrm>
            <a:off x="6537960" y="5135880"/>
            <a:ext cx="640080" cy="64008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6537960" y="513588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2" name="Google Shape;16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835640" y="518160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7315200" y="5154168"/>
            <a:ext cx="3429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onsolas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main.py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6537960" y="5913120"/>
            <a:ext cx="4800600" cy="167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Orquestrador  ·  idempotente  ·  com cache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05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05 · METODOLOGIA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Decisões metodológicas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48640" y="1737360"/>
            <a:ext cx="73152" cy="77724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777240" y="1901952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C8A4E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1508760" y="184708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Split temporal (últimos 20 %)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1508760" y="214884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Evita vazamento de dados e simula uso operacional em produção.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8640" y="2624328"/>
            <a:ext cx="110642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48640" y="2624328"/>
            <a:ext cx="73152" cy="77724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777240" y="2788920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C8A4E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1508760" y="2734056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TimeSeriesSplit(5) na validação cruzada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1508760" y="3035808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Folds respeitam a ordem temporal — sem look-ahead bias.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548640" y="3511296"/>
            <a:ext cx="110642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8"/>
          <p:cNvSpPr/>
          <p:nvPr/>
        </p:nvSpPr>
        <p:spPr>
          <a:xfrm>
            <a:off x="548640" y="3511296"/>
            <a:ext cx="73152" cy="77724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777240" y="3675888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C8A4E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1508760" y="3621024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Features cíclicas (sin/cos do DOY)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1508760" y="3922776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Modelos de árvore capturam sazonalidade sem descontinuidade no fim do ano.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8640" y="4398264"/>
            <a:ext cx="110642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548640" y="4398264"/>
            <a:ext cx="73152" cy="77724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777240" y="4562856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C8A4E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1508760" y="450799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Lags de 1 e 7 dias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1508760" y="4809744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Memória atmosférica curta — persistência é o melhor preditor de curto prazo.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548640" y="5285232"/>
            <a:ext cx="11064240" cy="777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548640" y="5285232"/>
            <a:ext cx="73152" cy="77724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8"/>
          <p:cNvSpPr/>
          <p:nvPr/>
        </p:nvSpPr>
        <p:spPr>
          <a:xfrm>
            <a:off x="777240" y="544982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C8A4E"/>
                </a:solidFill>
                <a:latin typeface="Georgia"/>
                <a:ea typeface="Georgia"/>
                <a:cs typeface="Georgia"/>
                <a:sym typeface="Georgia"/>
              </a:rPr>
              <a:t>05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1508760" y="5394960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One-hot da região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1508760" y="569671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Diferencia regimes climáticos sem precisar treinar um modelo por cidade.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06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06 · RESULTADOS 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Regressão de irradiância solar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548640" y="1737360"/>
            <a:ext cx="6949440" cy="4526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777240" y="1828800"/>
            <a:ext cx="6492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RMSE no conjunto de teste (kWh/m²/dia)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2" name="Google Shape;21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240280"/>
            <a:ext cx="67665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9"/>
          <p:cNvSpPr/>
          <p:nvPr/>
        </p:nvSpPr>
        <p:spPr>
          <a:xfrm>
            <a:off x="7726680" y="1737360"/>
            <a:ext cx="3886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R² e MAPE no teste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9"/>
          <p:cNvGraphicFramePr/>
          <p:nvPr/>
        </p:nvGraphicFramePr>
        <p:xfrm>
          <a:off x="7726680" y="21488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{0FB2591C-B849-4433-8965-D2A9CF79E419}</a:tableStyleId>
              </a:tblPr>
              <a:tblGrid>
                <a:gridCol w="1783075"/>
                <a:gridCol w="914400"/>
                <a:gridCol w="9601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1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F1E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Modelo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1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F1E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R²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D2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4F1E8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4F1E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MAPE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D2E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0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30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Linear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0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30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0,969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0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30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6,6 %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0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30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Random Forest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0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30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0,995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63028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263028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1,7 %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D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4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XGBoost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D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4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0,998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6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4D2E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1F4D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1,26 %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8D6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6E0"/>
                    </a:solidFill>
                  </a:tcPr>
                </a:tc>
              </a:tr>
            </a:tbl>
          </a:graphicData>
        </a:graphic>
      </p:graphicFrame>
      <p:sp>
        <p:nvSpPr>
          <p:cNvPr id="215" name="Google Shape;215;p9"/>
          <p:cNvSpPr/>
          <p:nvPr/>
        </p:nvSpPr>
        <p:spPr>
          <a:xfrm>
            <a:off x="7726680" y="4434840"/>
            <a:ext cx="3886200" cy="182880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"/>
          <p:cNvSpPr/>
          <p:nvPr/>
        </p:nvSpPr>
        <p:spPr>
          <a:xfrm>
            <a:off x="7955280" y="4526280"/>
            <a:ext cx="3429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0,069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7955280" y="5349240"/>
            <a:ext cx="3429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F1E8"/>
                </a:solidFill>
                <a:latin typeface="Calibri"/>
                <a:ea typeface="Calibri"/>
                <a:cs typeface="Calibri"/>
                <a:sym typeface="Calibri"/>
              </a:rPr>
              <a:t>kWh/m²/dia  ≈  1,3 % relativo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7955280" y="566928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Mais preciso que a próxima fonte de incerteza (performance ratio FV).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07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07 · INTERPRETABILIDADE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Features que mais explicam (XGBoost)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0"/>
          <p:cNvSpPr/>
          <p:nvPr/>
        </p:nvSpPr>
        <p:spPr>
          <a:xfrm>
            <a:off x="548640" y="1783080"/>
            <a:ext cx="69494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713232" y="1911096"/>
            <a:ext cx="457200" cy="45720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713232" y="19110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1325880" y="187452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ALLSKY_KT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1325880" y="217627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Índice de claridade do céu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548640" y="2606040"/>
            <a:ext cx="69494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13232" y="2734056"/>
            <a:ext cx="457200" cy="45720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"/>
          <p:cNvSpPr/>
          <p:nvPr/>
        </p:nvSpPr>
        <p:spPr>
          <a:xfrm>
            <a:off x="713232" y="27340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1325880" y="269748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CLRSKY_SFC_SW_DWN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1325880" y="299923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Teto físico de irradiância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548640" y="3429000"/>
            <a:ext cx="69494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/>
          <p:nvPr/>
        </p:nvSpPr>
        <p:spPr>
          <a:xfrm>
            <a:off x="713232" y="3557016"/>
            <a:ext cx="457200" cy="45720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"/>
          <p:cNvSpPr/>
          <p:nvPr/>
        </p:nvSpPr>
        <p:spPr>
          <a:xfrm>
            <a:off x="713232" y="35570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1325880" y="352044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Lags 1d &amp; médias 7d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1325880" y="382219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Persistência atmosférica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48640" y="4251960"/>
            <a:ext cx="69494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713232" y="4379976"/>
            <a:ext cx="457200" cy="45720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713232" y="4379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1325880" y="434340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doy_sin, doy_cos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1325880" y="464515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Componentes cíclicos sazonais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48640" y="5074920"/>
            <a:ext cx="6949440" cy="71323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713232" y="5202936"/>
            <a:ext cx="457200" cy="45720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13232" y="52029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1325880" y="5166360"/>
            <a:ext cx="6035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400"/>
              <a:buFont typeface="Consolas"/>
              <a:buNone/>
            </a:pPr>
            <a:r>
              <a:rPr b="1" i="0" lang="en-US" sz="1400" u="none" cap="none" strike="noStrike">
                <a:solidFill>
                  <a:srgbClr val="1F4D2E"/>
                </a:solidFill>
                <a:latin typeface="Consolas"/>
                <a:ea typeface="Consolas"/>
                <a:cs typeface="Consolas"/>
                <a:sym typeface="Consolas"/>
              </a:rPr>
              <a:t>RH2M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325880" y="5468112"/>
            <a:ext cx="6035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Umidade relativa — proxy de nuvens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7726680" y="1783080"/>
            <a:ext cx="3886200" cy="448056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92440" y="2057400"/>
            <a:ext cx="640080" cy="64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0"/>
          <p:cNvSpPr/>
          <p:nvPr/>
        </p:nvSpPr>
        <p:spPr>
          <a:xfrm>
            <a:off x="8092440" y="2788920"/>
            <a:ext cx="3154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F1E8"/>
                </a:solidFill>
                <a:latin typeface="Georgia"/>
                <a:ea typeface="Georgia"/>
                <a:cs typeface="Georgia"/>
                <a:sym typeface="Georgia"/>
              </a:rPr>
              <a:t>Interpretação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8092440" y="3246120"/>
            <a:ext cx="3154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F4B73C"/>
                </a:solidFill>
                <a:latin typeface="Calibri"/>
                <a:ea typeface="Calibri"/>
                <a:cs typeface="Calibri"/>
                <a:sym typeface="Calibri"/>
              </a:rPr>
              <a:t>O modelo aprende a física da irradiância sem ser ensinado.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8092440" y="4206240"/>
            <a:ext cx="54864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8092440" y="4389120"/>
            <a:ext cx="31546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As features mais importantes correspondem exatamente às variáveis que um meteorologista escolheria: claridade, teto físico, persistência, sazonalidade e umidade.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08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1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08 · RESULTADOS 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Quantos clusters?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548640" y="1737360"/>
            <a:ext cx="6949440" cy="45262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777240" y="1828800"/>
            <a:ext cx="6492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Silhueta média por número de clusters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2240280"/>
            <a:ext cx="6766560" cy="3886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1"/>
          <p:cNvSpPr/>
          <p:nvPr/>
        </p:nvSpPr>
        <p:spPr>
          <a:xfrm>
            <a:off x="7726680" y="1783080"/>
            <a:ext cx="38862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"/>
          <p:cNvSpPr/>
          <p:nvPr/>
        </p:nvSpPr>
        <p:spPr>
          <a:xfrm>
            <a:off x="7726680" y="1783080"/>
            <a:ext cx="73152" cy="137160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1"/>
          <p:cNvSpPr/>
          <p:nvPr/>
        </p:nvSpPr>
        <p:spPr>
          <a:xfrm>
            <a:off x="7955280" y="187452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k = 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7955280" y="242316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Convergência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7955280" y="269748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Cotovelo, silhueta e Calinski-Harabasz apontam o mesmo ótimo.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7726680" y="3337560"/>
            <a:ext cx="38862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"/>
          <p:cNvSpPr/>
          <p:nvPr/>
        </p:nvSpPr>
        <p:spPr>
          <a:xfrm>
            <a:off x="7726680" y="3337560"/>
            <a:ext cx="73152" cy="137160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"/>
          <p:cNvSpPr/>
          <p:nvPr/>
        </p:nvSpPr>
        <p:spPr>
          <a:xfrm>
            <a:off x="7955280" y="342900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0,404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7955280" y="39776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Silhueta máxima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7955280" y="425196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Separação moderada — esperado para n = 12 cidades.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7726680" y="4892040"/>
            <a:ext cx="3886200" cy="1371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1"/>
          <p:cNvSpPr/>
          <p:nvPr/>
        </p:nvSpPr>
        <p:spPr>
          <a:xfrm>
            <a:off x="7726680" y="4892040"/>
            <a:ext cx="73152" cy="137160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7955280" y="4983480"/>
            <a:ext cx="3520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n_init = 30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7955280" y="553212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Estabilidade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7955280" y="5806440"/>
            <a:ext cx="35204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Solução estável entre diferentes inicializações aleatórias.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09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2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09 · DESCOBERTAS 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2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Os quatro Brasis climáticos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2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"/>
          <p:cNvSpPr/>
          <p:nvPr/>
        </p:nvSpPr>
        <p:spPr>
          <a:xfrm>
            <a:off x="548640" y="1737360"/>
            <a:ext cx="5349240" cy="194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2"/>
          <p:cNvSpPr/>
          <p:nvPr/>
        </p:nvSpPr>
        <p:spPr>
          <a:xfrm>
            <a:off x="548640" y="1737360"/>
            <a:ext cx="5349240" cy="164592"/>
          </a:xfrm>
          <a:prstGeom prst="rect">
            <a:avLst/>
          </a:prstGeom>
          <a:solidFill>
            <a:srgbClr val="5C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2"/>
          <p:cNvSpPr/>
          <p:nvPr/>
        </p:nvSpPr>
        <p:spPr>
          <a:xfrm>
            <a:off x="5120640" y="2103120"/>
            <a:ext cx="594360" cy="594360"/>
          </a:xfrm>
          <a:prstGeom prst="ellipse">
            <a:avLst/>
          </a:prstGeom>
          <a:solidFill>
            <a:srgbClr val="5C8A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2"/>
          <p:cNvSpPr/>
          <p:nvPr/>
        </p:nvSpPr>
        <p:spPr>
          <a:xfrm>
            <a:off x="5120640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F1E8"/>
                </a:solidFill>
                <a:latin typeface="Georgia"/>
                <a:ea typeface="Georgia"/>
                <a:cs typeface="Georgia"/>
                <a:sym typeface="Georgia"/>
              </a:rPr>
              <a:t>0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2" name="Google Shape;30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960" y="2121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2"/>
          <p:cNvSpPr/>
          <p:nvPr/>
        </p:nvSpPr>
        <p:spPr>
          <a:xfrm>
            <a:off x="822960" y="274320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Amazônia úmida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2"/>
          <p:cNvSpPr/>
          <p:nvPr/>
        </p:nvSpPr>
        <p:spPr>
          <a:xfrm>
            <a:off x="822960" y="3154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Manaus · Belém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2"/>
          <p:cNvSpPr/>
          <p:nvPr/>
        </p:nvSpPr>
        <p:spPr>
          <a:xfrm>
            <a:off x="822960" y="3520440"/>
            <a:ext cx="480060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Temperatura estável  ·  RH 83 %  ·  chuva alta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2"/>
          <p:cNvSpPr/>
          <p:nvPr/>
        </p:nvSpPr>
        <p:spPr>
          <a:xfrm>
            <a:off x="6263640" y="1737360"/>
            <a:ext cx="5349240" cy="194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2"/>
          <p:cNvSpPr/>
          <p:nvPr/>
        </p:nvSpPr>
        <p:spPr>
          <a:xfrm>
            <a:off x="6263640" y="1737360"/>
            <a:ext cx="5349240" cy="164592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2"/>
          <p:cNvSpPr/>
          <p:nvPr/>
        </p:nvSpPr>
        <p:spPr>
          <a:xfrm>
            <a:off x="10835640" y="2103120"/>
            <a:ext cx="594360" cy="59436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2"/>
          <p:cNvSpPr/>
          <p:nvPr/>
        </p:nvSpPr>
        <p:spPr>
          <a:xfrm>
            <a:off x="10835640" y="21031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F1E8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0" name="Google Shape;310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37960" y="212140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12"/>
          <p:cNvSpPr/>
          <p:nvPr/>
        </p:nvSpPr>
        <p:spPr>
          <a:xfrm>
            <a:off x="6537960" y="274320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Sul/Sudeste úmido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2"/>
          <p:cNvSpPr/>
          <p:nvPr/>
        </p:nvSpPr>
        <p:spPr>
          <a:xfrm>
            <a:off x="6537960" y="315468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Porto Alegre · Curitiba · São Paulo · Rio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6537960" y="3520440"/>
            <a:ext cx="480060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Temperatura média 20 °C  ·  amplitude térmica alta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548640" y="3954780"/>
            <a:ext cx="5349240" cy="19431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4B73C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2"/>
          <p:cNvSpPr/>
          <p:nvPr/>
        </p:nvSpPr>
        <p:spPr>
          <a:xfrm>
            <a:off x="548640" y="3954780"/>
            <a:ext cx="5349240" cy="164592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2"/>
          <p:cNvSpPr/>
          <p:nvPr/>
        </p:nvSpPr>
        <p:spPr>
          <a:xfrm>
            <a:off x="5120640" y="4320540"/>
            <a:ext cx="594360" cy="59436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2"/>
          <p:cNvSpPr/>
          <p:nvPr/>
        </p:nvSpPr>
        <p:spPr>
          <a:xfrm>
            <a:off x="5120640" y="43205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2960" y="43388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2"/>
          <p:cNvSpPr/>
          <p:nvPr/>
        </p:nvSpPr>
        <p:spPr>
          <a:xfrm>
            <a:off x="822960" y="496062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Litoral Nordeste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822960" y="53721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Fortaleza · Recife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822960" y="5737860"/>
            <a:ext cx="480060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Solar + vento alto  =  híbrido ideal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6263640" y="3954780"/>
            <a:ext cx="5349240" cy="1943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2"/>
          <p:cNvSpPr/>
          <p:nvPr/>
        </p:nvSpPr>
        <p:spPr>
          <a:xfrm>
            <a:off x="6263640" y="3954780"/>
            <a:ext cx="5349240" cy="164592"/>
          </a:xfrm>
          <a:prstGeom prst="rect">
            <a:avLst/>
          </a:prstGeom>
          <a:solidFill>
            <a:srgbClr val="B7C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2"/>
          <p:cNvSpPr/>
          <p:nvPr/>
        </p:nvSpPr>
        <p:spPr>
          <a:xfrm>
            <a:off x="10835640" y="4320540"/>
            <a:ext cx="594360" cy="594360"/>
          </a:xfrm>
          <a:prstGeom prst="ellipse">
            <a:avLst/>
          </a:prstGeom>
          <a:solidFill>
            <a:srgbClr val="B7CF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2"/>
          <p:cNvSpPr/>
          <p:nvPr/>
        </p:nvSpPr>
        <p:spPr>
          <a:xfrm>
            <a:off x="10835640" y="43205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F4F1E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37960" y="4338828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2"/>
          <p:cNvSpPr/>
          <p:nvPr/>
        </p:nvSpPr>
        <p:spPr>
          <a:xfrm>
            <a:off x="6537960" y="4960620"/>
            <a:ext cx="4800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Cerrado interior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6537960" y="5372100"/>
            <a:ext cx="4800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Brasília · Goiânia · Belo Horizonte · Salvador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2"/>
          <p:cNvSpPr/>
          <p:nvPr/>
        </p:nvSpPr>
        <p:spPr>
          <a:xfrm>
            <a:off x="6537960" y="5737860"/>
            <a:ext cx="4800600" cy="685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RH 69 %  ·  céu limpo  ·  alta Kt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2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F4B73C">
              <a:alpha val="7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2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Insight central:  </a:t>
            </a:r>
            <a:r>
              <a:rPr b="0" i="1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a clusterização descobre região e bioma sem usá-los como input.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2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3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10 · IMPACTO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Interpretação para os ODS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3"/>
          <p:cNvSpPr/>
          <p:nvPr/>
        </p:nvSpPr>
        <p:spPr>
          <a:xfrm>
            <a:off x="548640" y="1783080"/>
            <a:ext cx="353568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3"/>
          <p:cNvSpPr/>
          <p:nvPr/>
        </p:nvSpPr>
        <p:spPr>
          <a:xfrm>
            <a:off x="548640" y="1783080"/>
            <a:ext cx="3535680" cy="155448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3"/>
          <p:cNvSpPr/>
          <p:nvPr/>
        </p:nvSpPr>
        <p:spPr>
          <a:xfrm>
            <a:off x="822960" y="2011680"/>
            <a:ext cx="298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822960" y="2286000"/>
            <a:ext cx="298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7800"/>
              <a:buFont typeface="Georgia"/>
              <a:buNone/>
            </a:pPr>
            <a:r>
              <a:rPr b="1" i="0" lang="en-US" sz="78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09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822960" y="3520440"/>
            <a:ext cx="298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Indústria &amp; Inovação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822960" y="4023360"/>
            <a:ext cx="868680" cy="292608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3"/>
          <p:cNvSpPr/>
          <p:nvPr/>
        </p:nvSpPr>
        <p:spPr>
          <a:xfrm>
            <a:off x="822960" y="402336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Q1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822960" y="4480560"/>
            <a:ext cx="29870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Alimenta planejamento de redes — geração estimada por CEP com erro inferior a 2 %.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4312920" y="1783080"/>
            <a:ext cx="353568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3"/>
          <p:cNvSpPr/>
          <p:nvPr/>
        </p:nvSpPr>
        <p:spPr>
          <a:xfrm>
            <a:off x="4312920" y="1783080"/>
            <a:ext cx="3535680" cy="155448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3"/>
          <p:cNvSpPr/>
          <p:nvPr/>
        </p:nvSpPr>
        <p:spPr>
          <a:xfrm>
            <a:off x="4587240" y="2011680"/>
            <a:ext cx="298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4587240" y="2286000"/>
            <a:ext cx="298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7800"/>
              <a:buFont typeface="Georgia"/>
              <a:buNone/>
            </a:pPr>
            <a:r>
              <a:rPr b="1" i="0" lang="en-US" sz="78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4587240" y="3520440"/>
            <a:ext cx="298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Cidades Sustentáveis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4587240" y="4023360"/>
            <a:ext cx="868680" cy="292608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3"/>
          <p:cNvSpPr/>
          <p:nvPr/>
        </p:nvSpPr>
        <p:spPr>
          <a:xfrm>
            <a:off x="4587240" y="402336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Q4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4587240" y="4480560"/>
            <a:ext cx="29870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Políticas de adaptação podem ser compartilhadas entre cidades do mesmo cluster — racionaliza o esforço técnico.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8077200" y="1783080"/>
            <a:ext cx="3535680" cy="4389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3"/>
          <p:cNvSpPr/>
          <p:nvPr/>
        </p:nvSpPr>
        <p:spPr>
          <a:xfrm>
            <a:off x="8077200" y="1783080"/>
            <a:ext cx="3535680" cy="155448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3"/>
          <p:cNvSpPr/>
          <p:nvPr/>
        </p:nvSpPr>
        <p:spPr>
          <a:xfrm>
            <a:off x="8351520" y="2011680"/>
            <a:ext cx="2987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ODS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8351520" y="2286000"/>
            <a:ext cx="298704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7800"/>
              <a:buFont typeface="Georgia"/>
              <a:buNone/>
            </a:pPr>
            <a:r>
              <a:rPr b="1" i="0" lang="en-US" sz="7800" u="none" cap="none" strike="noStrike">
                <a:solidFill>
                  <a:srgbClr val="F4B73C"/>
                </a:solidFill>
                <a:latin typeface="Georgia"/>
                <a:ea typeface="Georgia"/>
                <a:cs typeface="Georgia"/>
                <a:sym typeface="Georgia"/>
              </a:rPr>
              <a:t>13</a:t>
            </a:r>
            <a:endParaRPr b="0" i="0" sz="7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8351520" y="3520440"/>
            <a:ext cx="298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Ação Climática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3"/>
          <p:cNvSpPr/>
          <p:nvPr/>
        </p:nvSpPr>
        <p:spPr>
          <a:xfrm>
            <a:off x="8351520" y="4023360"/>
            <a:ext cx="868680" cy="292608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3"/>
          <p:cNvSpPr/>
          <p:nvPr/>
        </p:nvSpPr>
        <p:spPr>
          <a:xfrm>
            <a:off x="8351520" y="4023360"/>
            <a:ext cx="868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Futuro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8351520" y="4480560"/>
            <a:ext cx="29870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Série permite, em trabalhos futuros, detectar tendências e anomalias regionais (extensão para Q10).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4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11 · TRANSPARÊNCIA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4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Limitações honestas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4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4"/>
          <p:cNvSpPr/>
          <p:nvPr/>
        </p:nvSpPr>
        <p:spPr>
          <a:xfrm>
            <a:off x="548640" y="1783080"/>
            <a:ext cx="5349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4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8" name="Google Shape;37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1560" y="2331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4"/>
          <p:cNvSpPr/>
          <p:nvPr/>
        </p:nvSpPr>
        <p:spPr>
          <a:xfrm>
            <a:off x="1783080" y="21488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Resolução espacial ~50 km/píxel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4"/>
          <p:cNvSpPr/>
          <p:nvPr/>
        </p:nvSpPr>
        <p:spPr>
          <a:xfrm>
            <a:off x="1783080" y="269748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Adequado para política regional, não para análise rooftop individual.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4"/>
          <p:cNvSpPr/>
          <p:nvPr/>
        </p:nvSpPr>
        <p:spPr>
          <a:xfrm>
            <a:off x="6263640" y="1783080"/>
            <a:ext cx="5349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"/>
          <p:cNvSpPr/>
          <p:nvPr/>
        </p:nvSpPr>
        <p:spPr>
          <a:xfrm>
            <a:off x="6583680" y="2148840"/>
            <a:ext cx="777240" cy="77724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3" name="Google Shape;38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6560" y="2331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4"/>
          <p:cNvSpPr/>
          <p:nvPr/>
        </p:nvSpPr>
        <p:spPr>
          <a:xfrm>
            <a:off x="7498080" y="21488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Amostra pequena (n = 12 cidades)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4"/>
          <p:cNvSpPr/>
          <p:nvPr/>
        </p:nvSpPr>
        <p:spPr>
          <a:xfrm>
            <a:off x="7498080" y="269748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Silhueta moderada; com 50 capitais a separação dos clusters seria nítida.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4"/>
          <p:cNvSpPr/>
          <p:nvPr/>
        </p:nvSpPr>
        <p:spPr>
          <a:xfrm>
            <a:off x="548640" y="4069080"/>
            <a:ext cx="5349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4"/>
          <p:cNvSpPr/>
          <p:nvPr/>
        </p:nvSpPr>
        <p:spPr>
          <a:xfrm>
            <a:off x="868680" y="4434840"/>
            <a:ext cx="777240" cy="77724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88" name="Google Shape;38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1560" y="4617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14"/>
          <p:cNvSpPr/>
          <p:nvPr/>
        </p:nvSpPr>
        <p:spPr>
          <a:xfrm>
            <a:off x="1783080" y="44348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Modelo Q1 é estático (mesmo dia)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4"/>
          <p:cNvSpPr/>
          <p:nvPr/>
        </p:nvSpPr>
        <p:spPr>
          <a:xfrm>
            <a:off x="1783080" y="498348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Extensão prospectiva é direta com lags adicionais e janela móvel.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4"/>
          <p:cNvSpPr/>
          <p:nvPr/>
        </p:nvSpPr>
        <p:spPr>
          <a:xfrm>
            <a:off x="6263640" y="4069080"/>
            <a:ext cx="534924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4"/>
          <p:cNvSpPr/>
          <p:nvPr/>
        </p:nvSpPr>
        <p:spPr>
          <a:xfrm>
            <a:off x="6583680" y="4434840"/>
            <a:ext cx="777240" cy="777240"/>
          </a:xfrm>
          <a:prstGeom prst="ellipse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3" name="Google Shape;39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66560" y="461772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4"/>
          <p:cNvSpPr/>
          <p:nvPr/>
        </p:nvSpPr>
        <p:spPr>
          <a:xfrm>
            <a:off x="7498080" y="4434840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Sem grid search exaustivo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4"/>
          <p:cNvSpPr/>
          <p:nvPr/>
        </p:nvSpPr>
        <p:spPr>
          <a:xfrm>
            <a:off x="7498080" y="498348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Hiperparâmetros default; ganho marginal esperado &lt; 5 %.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4"/>
          <p:cNvSpPr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solidFill>
            <a:srgbClr val="1F4D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4"/>
          <p:cNvSpPr/>
          <p:nvPr/>
        </p:nvSpPr>
        <p:spPr>
          <a:xfrm>
            <a:off x="777240" y="5989320"/>
            <a:ext cx="10607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Reconhecer limitações é parte do método — cada ponto fraco é um caminho de melhoria documentado.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5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12 · REPRODUTIBILIDADE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5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Como rodar o projeto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548640" y="1783080"/>
            <a:ext cx="6400800" cy="4526280"/>
          </a:xfrm>
          <a:prstGeom prst="rect">
            <a:avLst/>
          </a:prstGeom>
          <a:solidFill>
            <a:srgbClr val="1A1F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777240" y="187452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8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9080"/>
                </a:solidFill>
                <a:latin typeface="Calibri"/>
                <a:ea typeface="Calibri"/>
                <a:cs typeface="Calibri"/>
                <a:sym typeface="Calibri"/>
              </a:rPr>
              <a:t>●  ●  ●     terminal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5"/>
          <p:cNvSpPr/>
          <p:nvPr/>
        </p:nvSpPr>
        <p:spPr>
          <a:xfrm>
            <a:off x="777240" y="2194560"/>
            <a:ext cx="5943600" cy="18288"/>
          </a:xfrm>
          <a:prstGeom prst="rect">
            <a:avLst/>
          </a:prstGeom>
          <a:solidFill>
            <a:srgbClr val="3A44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868680" y="2377440"/>
            <a:ext cx="576072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90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A9080"/>
                </a:solidFill>
                <a:latin typeface="Consolas"/>
                <a:ea typeface="Consolas"/>
                <a:cs typeface="Consolas"/>
                <a:sym typeface="Consolas"/>
              </a:rPr>
              <a:t># 1. instalar dependências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4B73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4B73C"/>
                </a:solidFill>
                <a:latin typeface="Consolas"/>
                <a:ea typeface="Consolas"/>
                <a:cs typeface="Consolas"/>
                <a:sym typeface="Consolas"/>
              </a:rPr>
              <a:t>$ pip install -r requirements.txt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4F1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8A90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A9080"/>
                </a:solidFill>
                <a:latin typeface="Consolas"/>
                <a:ea typeface="Consolas"/>
                <a:cs typeface="Consolas"/>
                <a:sym typeface="Consolas"/>
              </a:rPr>
              <a:t># 2. pipeline completo (download + processamento)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4B73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4B73C"/>
                </a:solidFill>
                <a:latin typeface="Consolas"/>
                <a:ea typeface="Consolas"/>
                <a:cs typeface="Consolas"/>
                <a:sym typeface="Consolas"/>
              </a:rPr>
              <a:t>$ python -m src.main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4F1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8A90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A9080"/>
                </a:solidFill>
                <a:latin typeface="Consolas"/>
                <a:ea typeface="Consolas"/>
                <a:cs typeface="Consolas"/>
                <a:sym typeface="Consolas"/>
              </a:rPr>
              <a:t># 3. reexecutar com cache (rápido)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4B73C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4B73C"/>
                </a:solidFill>
                <a:latin typeface="Consolas"/>
                <a:ea typeface="Consolas"/>
                <a:cs typeface="Consolas"/>
                <a:sym typeface="Consolas"/>
              </a:rPr>
              <a:t>$ python -m src.main --no-download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4F1E8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8A9080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8A9080"/>
                </a:solidFill>
                <a:latin typeface="Consolas"/>
                <a:ea typeface="Consolas"/>
                <a:cs typeface="Consolas"/>
                <a:sym typeface="Consolas"/>
              </a:rPr>
              <a:t># 4. notebook espelhado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4F1E8"/>
                </a:solidFill>
                <a:latin typeface="Consolas"/>
                <a:ea typeface="Consolas"/>
                <a:cs typeface="Consolas"/>
                <a:sym typeface="Consolas"/>
              </a:rPr>
              <a:t>$ jupyter notebook notebooks/01_analysis.ipynb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7178040" y="1783080"/>
            <a:ext cx="4434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F4D2E"/>
                </a:solidFill>
                <a:latin typeface="Calibri"/>
                <a:ea typeface="Calibri"/>
                <a:cs typeface="Calibri"/>
                <a:sym typeface="Calibri"/>
              </a:rPr>
              <a:t>Saídas geradas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178040" y="2194560"/>
            <a:ext cx="44348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7178040" y="2194560"/>
            <a:ext cx="73152" cy="91440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7406640" y="228600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11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5"/>
          <p:cNvSpPr/>
          <p:nvPr/>
        </p:nvSpPr>
        <p:spPr>
          <a:xfrm>
            <a:off x="8458200" y="219456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PNGs de visualização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7178040" y="3246120"/>
            <a:ext cx="44348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7178040" y="3246120"/>
            <a:ext cx="73152" cy="91440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7406640" y="333756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5"/>
          <p:cNvSpPr/>
          <p:nvPr/>
        </p:nvSpPr>
        <p:spPr>
          <a:xfrm>
            <a:off x="8458200" y="324612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modelo serializado (.joblib)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7178040" y="4297680"/>
            <a:ext cx="44348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7178040" y="4297680"/>
            <a:ext cx="73152" cy="91440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7406640" y="438912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8458200" y="429768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CSVs de resultados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7178040" y="5349240"/>
            <a:ext cx="4434840" cy="9144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7178040" y="5349240"/>
            <a:ext cx="73152" cy="914400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7406640" y="5440680"/>
            <a:ext cx="10058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8458200" y="5349240"/>
            <a:ext cx="2971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JSON-resumo executivo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8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6"/>
          <p:cNvSpPr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13 · CONCLUSÕES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6"/>
          <p:cNvSpPr/>
          <p:nvPr/>
        </p:nvSpPr>
        <p:spPr>
          <a:xfrm>
            <a:off x="54864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Take-aways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6"/>
          <p:cNvSpPr/>
          <p:nvPr/>
        </p:nvSpPr>
        <p:spPr>
          <a:xfrm>
            <a:off x="11292840" y="502920"/>
            <a:ext cx="320040" cy="320040"/>
          </a:xfrm>
          <a:prstGeom prst="ellipse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6"/>
          <p:cNvSpPr/>
          <p:nvPr/>
        </p:nvSpPr>
        <p:spPr>
          <a:xfrm>
            <a:off x="548640" y="1783080"/>
            <a:ext cx="53949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6"/>
          <p:cNvSpPr/>
          <p:nvPr/>
        </p:nvSpPr>
        <p:spPr>
          <a:xfrm>
            <a:off x="868680" y="205740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~1,3 %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6"/>
          <p:cNvSpPr/>
          <p:nvPr/>
        </p:nvSpPr>
        <p:spPr>
          <a:xfrm>
            <a:off x="868680" y="2971800"/>
            <a:ext cx="45720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6"/>
          <p:cNvSpPr/>
          <p:nvPr/>
        </p:nvSpPr>
        <p:spPr>
          <a:xfrm>
            <a:off x="868680" y="3063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erro relativo de previsão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6"/>
          <p:cNvSpPr/>
          <p:nvPr/>
        </p:nvSpPr>
        <p:spPr>
          <a:xfrm>
            <a:off x="868680" y="347472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Dados públicos e gratuitos + ML clássico = previsão solar de qualidade operacional.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6"/>
          <p:cNvSpPr/>
          <p:nvPr/>
        </p:nvSpPr>
        <p:spPr>
          <a:xfrm>
            <a:off x="6217920" y="1783080"/>
            <a:ext cx="53949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16"/>
          <p:cNvSpPr/>
          <p:nvPr/>
        </p:nvSpPr>
        <p:spPr>
          <a:xfrm>
            <a:off x="6537960" y="205740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5 biomas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6"/>
          <p:cNvSpPr/>
          <p:nvPr/>
        </p:nvSpPr>
        <p:spPr>
          <a:xfrm>
            <a:off x="6537960" y="2971800"/>
            <a:ext cx="45720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6"/>
          <p:cNvSpPr/>
          <p:nvPr/>
        </p:nvSpPr>
        <p:spPr>
          <a:xfrm>
            <a:off x="6537960" y="3063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recuperados sem rótulo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6"/>
          <p:cNvSpPr/>
          <p:nvPr/>
        </p:nvSpPr>
        <p:spPr>
          <a:xfrm>
            <a:off x="6537960" y="347472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O satélite carrega a assinatura climática regional — clustering reconstrói biomas sem usá-los como input.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6"/>
          <p:cNvSpPr/>
          <p:nvPr/>
        </p:nvSpPr>
        <p:spPr>
          <a:xfrm>
            <a:off x="548640" y="4069080"/>
            <a:ext cx="53949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6"/>
          <p:cNvSpPr/>
          <p:nvPr/>
        </p:nvSpPr>
        <p:spPr>
          <a:xfrm>
            <a:off x="868680" y="434340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100 %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6"/>
          <p:cNvSpPr/>
          <p:nvPr/>
        </p:nvSpPr>
        <p:spPr>
          <a:xfrm>
            <a:off x="868680" y="5257800"/>
            <a:ext cx="45720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6"/>
          <p:cNvSpPr/>
          <p:nvPr/>
        </p:nvSpPr>
        <p:spPr>
          <a:xfrm>
            <a:off x="868680" y="5349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pipeline reprodutível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6"/>
          <p:cNvSpPr/>
          <p:nvPr/>
        </p:nvSpPr>
        <p:spPr>
          <a:xfrm>
            <a:off x="868680" y="576072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Modular, testado, idempotente — um único comando reproduz toda a análise do zero.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6"/>
          <p:cNvSpPr/>
          <p:nvPr/>
        </p:nvSpPr>
        <p:spPr>
          <a:xfrm>
            <a:off x="6217920" y="4069080"/>
            <a:ext cx="5394960" cy="2011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7CFA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54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6"/>
          <p:cNvSpPr/>
          <p:nvPr/>
        </p:nvSpPr>
        <p:spPr>
          <a:xfrm>
            <a:off x="6537960" y="4343400"/>
            <a:ext cx="47548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D2E"/>
              </a:buClr>
              <a:buSzPts val="4600"/>
              <a:buFont typeface="Georgia"/>
              <a:buNone/>
            </a:pPr>
            <a:r>
              <a:rPr b="1" i="0" lang="en-US" sz="4600" u="none" cap="none" strike="noStrike">
                <a:solidFill>
                  <a:srgbClr val="1F4D2E"/>
                </a:solidFill>
                <a:latin typeface="Georgia"/>
                <a:ea typeface="Georgia"/>
                <a:cs typeface="Georgia"/>
                <a:sym typeface="Georgia"/>
              </a:rPr>
              <a:t>→ h+1, h+7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6"/>
          <p:cNvSpPr/>
          <p:nvPr/>
        </p:nvSpPr>
        <p:spPr>
          <a:xfrm>
            <a:off x="6537960" y="5257800"/>
            <a:ext cx="457200" cy="36576"/>
          </a:xfrm>
          <a:prstGeom prst="rect">
            <a:avLst/>
          </a:prstGeom>
          <a:solidFill>
            <a:srgbClr val="F4B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6"/>
          <p:cNvSpPr/>
          <p:nvPr/>
        </p:nvSpPr>
        <p:spPr>
          <a:xfrm>
            <a:off x="6537960" y="53492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8A4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C8A4E"/>
                </a:solidFill>
                <a:latin typeface="Calibri"/>
                <a:ea typeface="Calibri"/>
                <a:cs typeface="Calibri"/>
                <a:sym typeface="Calibri"/>
              </a:rPr>
              <a:t>próximo passo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6"/>
          <p:cNvSpPr/>
          <p:nvPr/>
        </p:nvSpPr>
        <p:spPr>
          <a:xfrm>
            <a:off x="6537960" y="5760720"/>
            <a:ext cx="4754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6302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263028"/>
                </a:solidFill>
                <a:latin typeface="Calibri"/>
                <a:ea typeface="Calibri"/>
                <a:cs typeface="Calibri"/>
                <a:sym typeface="Calibri"/>
              </a:rPr>
              <a:t>Previsão prospectiva multi-horizonte e cruzamento com dados socioeconômicos.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Orbital Solar Insight  ·  FIAP Global Solution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6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56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560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4D2E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66" name="Google Shape;466;p17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1097280" y="2926080"/>
            <a:ext cx="4389120" cy="43891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467" name="Google Shape;467;p17"/>
          <p:cNvPicPr preferRelativeResize="0"/>
          <p:nvPr/>
        </p:nvPicPr>
        <p:blipFill rotWithShape="1">
          <a:blip r:embed="rId4">
            <a:alphaModFix amt="20000"/>
          </a:blip>
          <a:srcRect b="0" l="0" r="0" t="0"/>
          <a:stretch/>
        </p:blipFill>
        <p:spPr>
          <a:xfrm>
            <a:off x="9144000" y="36576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17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B73C"/>
                </a:solidFill>
                <a:latin typeface="Calibri"/>
                <a:ea typeface="Calibri"/>
                <a:cs typeface="Calibri"/>
                <a:sym typeface="Calibri"/>
              </a:rPr>
              <a:t>FIAP · GLOBAL SOLUTION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7"/>
          <p:cNvSpPr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9600"/>
              <a:buFont typeface="Georgia"/>
              <a:buNone/>
            </a:pPr>
            <a:r>
              <a:rPr b="1" i="0" lang="en-US" sz="9600" u="none" cap="none" strike="noStrike">
                <a:solidFill>
                  <a:srgbClr val="F4F1E8"/>
                </a:solidFill>
                <a:latin typeface="Georgia"/>
                <a:ea typeface="Georgia"/>
                <a:cs typeface="Georgia"/>
                <a:sym typeface="Georgia"/>
              </a:rPr>
              <a:t>Obrigado.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7"/>
          <p:cNvSpPr/>
          <p:nvPr/>
        </p:nvSpPr>
        <p:spPr>
          <a:xfrm>
            <a:off x="640080" y="3383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Perguntas, comentários e críticas são bem-vindos.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7"/>
          <p:cNvSpPr/>
          <p:nvPr/>
        </p:nvSpPr>
        <p:spPr>
          <a:xfrm>
            <a:off x="640080" y="4572000"/>
            <a:ext cx="5257800" cy="1188720"/>
          </a:xfrm>
          <a:prstGeom prst="rect">
            <a:avLst/>
          </a:prstGeom>
          <a:solidFill>
            <a:srgbClr val="5C8A4E">
              <a:alpha val="50196"/>
            </a:srgbClr>
          </a:solidFill>
          <a:ln cap="flat" cmpd="sng" w="12700">
            <a:solidFill>
              <a:srgbClr val="F4B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2" name="Google Shape;47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4892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17"/>
          <p:cNvSpPr/>
          <p:nvPr/>
        </p:nvSpPr>
        <p:spPr>
          <a:xfrm>
            <a:off x="1554480" y="4754880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B73C"/>
                </a:solidFill>
                <a:latin typeface="Calibri"/>
                <a:ea typeface="Calibri"/>
                <a:cs typeface="Calibri"/>
                <a:sym typeface="Calibri"/>
              </a:rPr>
              <a:t>Repositório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7"/>
          <p:cNvSpPr/>
          <p:nvPr/>
        </p:nvSpPr>
        <p:spPr>
          <a:xfrm>
            <a:off x="1554475" y="5074925"/>
            <a:ext cx="4343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300"/>
              <a:buFont typeface="Consolas"/>
              <a:buNone/>
            </a:pPr>
            <a:r>
              <a:rPr lang="en-US" sz="1100" u="sng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github.com/GiantMazelliWasHere/orbital-solar-insight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7"/>
          <p:cNvSpPr/>
          <p:nvPr/>
        </p:nvSpPr>
        <p:spPr>
          <a:xfrm>
            <a:off x="6263640" y="4572000"/>
            <a:ext cx="5257800" cy="1188720"/>
          </a:xfrm>
          <a:prstGeom prst="rect">
            <a:avLst/>
          </a:prstGeom>
          <a:solidFill>
            <a:srgbClr val="5C8A4E">
              <a:alpha val="50196"/>
            </a:srgbClr>
          </a:solidFill>
          <a:ln cap="flat" cmpd="sng" w="12700">
            <a:solidFill>
              <a:srgbClr val="F4B7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76" name="Google Shape;47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2240" y="489204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17"/>
          <p:cNvSpPr/>
          <p:nvPr/>
        </p:nvSpPr>
        <p:spPr>
          <a:xfrm>
            <a:off x="7178040" y="4754880"/>
            <a:ext cx="4251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73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B73C"/>
                </a:solidFill>
                <a:latin typeface="Calibri"/>
                <a:ea typeface="Calibri"/>
                <a:cs typeface="Calibri"/>
                <a:sym typeface="Calibri"/>
              </a:rPr>
              <a:t>Fonte de dados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7"/>
          <p:cNvSpPr/>
          <p:nvPr/>
        </p:nvSpPr>
        <p:spPr>
          <a:xfrm>
            <a:off x="7178040" y="5074920"/>
            <a:ext cx="4251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F1E8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4F1E8"/>
                </a:solidFill>
                <a:latin typeface="Consolas"/>
                <a:ea typeface="Consolas"/>
                <a:cs typeface="Consolas"/>
                <a:sym typeface="Consolas"/>
              </a:rPr>
              <a:t>NASA POWER  ·  power.larc.nasa.gov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7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Equipe FIAP  ·  Global Solution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B7CFA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7CFA8"/>
                </a:solidFill>
                <a:latin typeface="Calibri"/>
                <a:ea typeface="Calibri"/>
                <a:cs typeface="Calibri"/>
                <a:sym typeface="Calibri"/>
              </a:rPr>
              <a:t>15 / 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